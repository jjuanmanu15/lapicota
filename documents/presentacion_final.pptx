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Proxima Nova"/>
      <p:regular r:id="rId22"/>
      <p:bold r:id="rId23"/>
      <p:italic r:id="rId24"/>
      <p:boldItalic r:id="rId25"/>
    </p:embeddedFont>
    <p:embeddedFont>
      <p:font typeface="Robo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83AA794-4869-47C9-BE5C-B30324C06728}">
  <a:tblStyle styleId="{383AA794-4869-47C9-BE5C-B30324C0672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ProximaNova-regular.fntdata"/><Relationship Id="rId21" Type="http://schemas.openxmlformats.org/officeDocument/2006/relationships/slide" Target="slides/slide15.xml"/><Relationship Id="rId24" Type="http://schemas.openxmlformats.org/officeDocument/2006/relationships/font" Target="fonts/ProximaNova-italic.fntdata"/><Relationship Id="rId23" Type="http://schemas.openxmlformats.org/officeDocument/2006/relationships/font" Target="fonts/ProximaNova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regular.fntdata"/><Relationship Id="rId25" Type="http://schemas.openxmlformats.org/officeDocument/2006/relationships/font" Target="fonts/ProximaNova-boldItalic.fntdata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86e79b7ac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86e79b7ac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3fca66643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e3fca66643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3fca66643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3fca66643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86e79b7ac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86e79b7ac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86e79b7ac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86e79b7ac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3fca66643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3fca66643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86e79b7ac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86e79b7ac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89c76b36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89c76b36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89ce32fa0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89ce32fa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86e79b7ac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86e79b7ac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86e79b7ac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86e79b7ac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89ce32fa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a89ce32fa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86e79b7ac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86e79b7ac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89f42c15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89f42c15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drive.google.com/file/d/1s1_1FSWp1t3I6SSL1LxkjnlfEB9Nh355/view" TargetMode="External"/><Relationship Id="rId4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drive.google.com/file/d/1NpKREwSgrW91ydwH1fcqDRoDFQgscKEP/view" TargetMode="External"/><Relationship Id="rId4" Type="http://schemas.openxmlformats.org/officeDocument/2006/relationships/image" Target="../media/image1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drive.google.com/file/d/1_qPv--9yHUNdbzvvOOB-pUSt5iu35X6-/view" TargetMode="External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drive.google.com/file/d/1QFNfs-hRgHKp4CNYZdWd63M5rXGo6spR/view" TargetMode="External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drive.google.com/file/d/1ab7yZChLyhc8NcmRSzZfraBufXUv33Ij/view" TargetMode="External"/><Relationship Id="rId4" Type="http://schemas.openxmlformats.org/officeDocument/2006/relationships/image" Target="../media/image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78105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000">
                <a:latin typeface="Arial"/>
                <a:ea typeface="Arial"/>
                <a:cs typeface="Arial"/>
                <a:sym typeface="Arial"/>
              </a:rPr>
              <a:t>Sistema de Gestión Penitenciaria</a:t>
            </a:r>
            <a:endParaRPr sz="5000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2997902"/>
            <a:ext cx="8123100" cy="21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Redes e Infraestructura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Presentado a : Oscar Hernan Mondragon Martinez</a:t>
            </a:r>
            <a:endParaRPr sz="1200">
              <a:solidFill>
                <a:srgbClr val="000000"/>
              </a:solidFill>
              <a:highlight>
                <a:srgbClr val="F8FAFD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Presentado por: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Imbachi Sanchez, Wilson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Jiménez Bedoya, Valeria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Perez, Juan </a:t>
            </a:r>
            <a:r>
              <a:rPr lang="es" sz="1500">
                <a:latin typeface="Arial"/>
                <a:ea typeface="Arial"/>
                <a:cs typeface="Arial"/>
                <a:sym typeface="Arial"/>
              </a:rPr>
              <a:t>Manuel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2861650" y="1589875"/>
            <a:ext cx="314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Solución Planteada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1552225" y="2360825"/>
            <a:ext cx="6268800" cy="11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Gestionar de manera integrada la información de personas privadas de la libertad, el personal penitenciario, el control de visitas y el registro de incidentes, asegurando validaciones entre servicios para mantener la coherencia de los datos. De esta manera, se evitarán inconsistencias como registros inválidos y se mejorará la calidad de la información.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66225" y="92400"/>
            <a:ext cx="9481500" cy="74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920">
                <a:solidFill>
                  <a:schemeClr val="lt1"/>
                </a:solidFill>
              </a:rPr>
              <a:t>Análisis de datos distribuido, Apache Spark + PySpark</a:t>
            </a:r>
            <a:endParaRPr sz="2920">
              <a:solidFill>
                <a:schemeClr val="lt1"/>
              </a:solidFill>
            </a:endParaRPr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25" y="1079675"/>
            <a:ext cx="3180600" cy="344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/>
          <p:nvPr/>
        </p:nvSpPr>
        <p:spPr>
          <a:xfrm>
            <a:off x="3527250" y="908163"/>
            <a:ext cx="2089500" cy="12897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Lee y distribuye el procesamiento del dataset entre 2 nodos </a:t>
            </a:r>
            <a:endParaRPr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3527250" y="3752825"/>
            <a:ext cx="2089500" cy="11817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Exporta resultados en CSV para visualización en Power BI </a:t>
            </a:r>
            <a:endParaRPr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3527250" y="2330500"/>
            <a:ext cx="2089500" cy="12897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Ejecuta 8 análisis con PySpark sobre visitas, presos, guardias e incidentes </a:t>
            </a:r>
            <a:endParaRPr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9625" y="1867500"/>
            <a:ext cx="3006614" cy="118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Diseño</a:t>
            </a:r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4725" y="0"/>
            <a:ext cx="937344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0" title="implementacion1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066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21" title="implementacion2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2" title="pyspark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/>
              <a:t>Prueba 1: Smoke Test</a:t>
            </a:r>
            <a:endParaRPr sz="3000"/>
          </a:p>
        </p:txBody>
      </p:sp>
      <p:graphicFrame>
        <p:nvGraphicFramePr>
          <p:cNvPr id="124" name="Google Shape;124;p23"/>
          <p:cNvGraphicFramePr/>
          <p:nvPr/>
        </p:nvGraphicFramePr>
        <p:xfrm>
          <a:off x="658850" y="1304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{383AA794-4869-47C9-BE5C-B30324C06728}</a:tableStyleId>
              </a:tblPr>
              <a:tblGrid>
                <a:gridCol w="1434075"/>
                <a:gridCol w="1434075"/>
              </a:tblGrid>
              <a:tr h="348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Parámetro</a:t>
                      </a:r>
                      <a:endParaRPr sz="12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Valor</a:t>
                      </a:r>
                      <a:endParaRPr sz="1200"/>
                    </a:p>
                  </a:txBody>
                  <a:tcPr marT="63500" marB="63500" marR="63500" marL="63500"/>
                </a:tc>
              </a:tr>
              <a:tr h="348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Número de hilos</a:t>
                      </a:r>
                      <a:endParaRPr sz="12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5</a:t>
                      </a:r>
                      <a:endParaRPr sz="1200"/>
                    </a:p>
                  </a:txBody>
                  <a:tcPr marT="63500" marB="63500" marR="63500" marL="63500"/>
                </a:tc>
              </a:tr>
              <a:tr h="553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Periodo de subida</a:t>
                      </a:r>
                      <a:endParaRPr sz="12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5</a:t>
                      </a:r>
                      <a:endParaRPr sz="1200"/>
                    </a:p>
                  </a:txBody>
                  <a:tcPr marT="63500" marB="63500" marR="63500" marL="63500"/>
                </a:tc>
              </a:tr>
              <a:tr h="553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Contador de blucle</a:t>
                      </a:r>
                      <a:endParaRPr sz="12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1</a:t>
                      </a:r>
                      <a:endParaRPr sz="1200"/>
                    </a:p>
                  </a:txBody>
                  <a:tcPr marT="63500" marB="63500" marR="63500" marL="63500"/>
                </a:tc>
              </a:tr>
              <a:tr h="348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Tipo de prueba</a:t>
                      </a:r>
                      <a:endParaRPr sz="12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Carga</a:t>
                      </a:r>
                      <a:endParaRPr sz="1200"/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  <p:pic>
        <p:nvPicPr>
          <p:cNvPr id="125" name="Google Shape;12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300" y="3742150"/>
            <a:ext cx="8637775" cy="111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3"/>
          <p:cNvSpPr txBox="1"/>
          <p:nvPr/>
        </p:nvSpPr>
        <p:spPr>
          <a:xfrm>
            <a:off x="3877625" y="1116038"/>
            <a:ext cx="50436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Los resultados obtenidos muestran un comportamiento estable y sin errores en los tres microservicios evaluados. El servicio de visitas presentó los menores tiempos de respuesta, con un promedio cercano a los 2 ms, seguido del servicio de usuarios con aproximadamente 7 ms. El servicio de incidentes registró los tiempos más altos, cercanos a los 80–90 ms, lo cual sugiere una mayor complejidad en el procesamiento o acceso a datos. Sin embargo, todos los tiempos permanecen dentro de rangos aceptables para una prueba de carga básica tipo smoke test.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idx="4294967295" type="title"/>
          </p:nvPr>
        </p:nvSpPr>
        <p:spPr>
          <a:xfrm>
            <a:off x="140525" y="2467125"/>
            <a:ext cx="1738500" cy="16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Prueba 2: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/>
              <a:t>Smoke Test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24" title="prueba_2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75650" y="0"/>
            <a:ext cx="696835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/>
              <a:t>Prueba 2: Smoke Test (Desescalado)</a:t>
            </a:r>
            <a:endParaRPr sz="3000"/>
          </a:p>
        </p:txBody>
      </p:sp>
      <p:graphicFrame>
        <p:nvGraphicFramePr>
          <p:cNvPr id="138" name="Google Shape;138;p25"/>
          <p:cNvGraphicFramePr/>
          <p:nvPr/>
        </p:nvGraphicFramePr>
        <p:xfrm>
          <a:off x="658850" y="1304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{383AA794-4869-47C9-BE5C-B30324C06728}</a:tableStyleId>
              </a:tblPr>
              <a:tblGrid>
                <a:gridCol w="1434075"/>
                <a:gridCol w="1434075"/>
              </a:tblGrid>
              <a:tr h="348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Parámetro</a:t>
                      </a:r>
                      <a:endParaRPr sz="12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Valor</a:t>
                      </a:r>
                      <a:endParaRPr sz="1200"/>
                    </a:p>
                  </a:txBody>
                  <a:tcPr marT="63500" marB="63500" marR="63500" marL="63500"/>
                </a:tc>
              </a:tr>
              <a:tr h="348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Número de hilos</a:t>
                      </a:r>
                      <a:endParaRPr sz="12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50</a:t>
                      </a:r>
                      <a:endParaRPr sz="1200"/>
                    </a:p>
                  </a:txBody>
                  <a:tcPr marT="63500" marB="63500" marR="63500" marL="63500"/>
                </a:tc>
              </a:tr>
              <a:tr h="553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Periodo de subida</a:t>
                      </a:r>
                      <a:endParaRPr sz="12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60</a:t>
                      </a:r>
                      <a:endParaRPr sz="1200"/>
                    </a:p>
                  </a:txBody>
                  <a:tcPr marT="63500" marB="63500" marR="63500" marL="63500"/>
                </a:tc>
              </a:tr>
              <a:tr h="553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Contador de blucle</a:t>
                      </a:r>
                      <a:endParaRPr sz="12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Sin fin</a:t>
                      </a:r>
                      <a:endParaRPr sz="1200"/>
                    </a:p>
                  </a:txBody>
                  <a:tcPr marT="63500" marB="63500" marR="63500" marL="63500"/>
                </a:tc>
              </a:tr>
              <a:tr h="348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Tipo de prueba</a:t>
                      </a:r>
                      <a:endParaRPr sz="12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Carga</a:t>
                      </a:r>
                      <a:endParaRPr sz="1200"/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  <p:sp>
        <p:nvSpPr>
          <p:cNvPr id="139" name="Google Shape;139;p25"/>
          <p:cNvSpPr txBox="1"/>
          <p:nvPr/>
        </p:nvSpPr>
        <p:spPr>
          <a:xfrm>
            <a:off x="3854300" y="1359497"/>
            <a:ext cx="5043600" cy="20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La reducción del servicio de incidentes a una sola réplica evidenció una degradación crítica del sistema bajo carga concurrente. El porcentaje de error aumentó hasta un 56.39%, acompañado de tiempos máximos cercanos a 15 segundos y una desviación estándar alta, lo que indica inestabilidad severa y saturación del servicio.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0" name="Google Shape;14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608150"/>
            <a:ext cx="8839200" cy="12863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218000" y="257650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/>
              <a:t>Prueba 3: Stress Test</a:t>
            </a:r>
            <a:endParaRPr sz="3000"/>
          </a:p>
        </p:txBody>
      </p:sp>
      <p:pic>
        <p:nvPicPr>
          <p:cNvPr id="146" name="Google Shape;146;p26" title="prueba_3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17725"/>
            <a:ext cx="9144000" cy="4125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0"/>
              <a:t>GRACIAS</a:t>
            </a:r>
            <a:endParaRPr sz="5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